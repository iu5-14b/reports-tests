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D03CA-60F7-49EF-AC49-514D14F5F831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32B94-5387-4679-97FC-BFAD0EF03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81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50F53-DB89-AFFA-6653-6DCF8645A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192" y="1041400"/>
            <a:ext cx="11045952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Лабораторная работа 10 </a:t>
            </a:r>
            <a:br>
              <a:rPr lang="ru-RU" dirty="0"/>
            </a:br>
            <a:r>
              <a:rPr lang="ru-RU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DD6353-3ABD-8D4A-CC81-A7A663F65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688" y="3666951"/>
            <a:ext cx="3697224" cy="2888668"/>
          </a:xfrm>
        </p:spPr>
        <p:txBody>
          <a:bodyPr>
            <a:normAutofit fontScale="92500" lnSpcReduction="10000"/>
          </a:bodyPr>
          <a:lstStyle/>
          <a:p>
            <a:r>
              <a:rPr lang="ru-RU" b="1" i="1" dirty="0"/>
              <a:t>Группа ИУ5-14Б</a:t>
            </a:r>
          </a:p>
          <a:p>
            <a:r>
              <a:rPr lang="ru-RU" dirty="0"/>
              <a:t>Роман Бутузов</a:t>
            </a:r>
          </a:p>
          <a:p>
            <a:r>
              <a:rPr lang="ru-RU" dirty="0"/>
              <a:t>Григорий Корнеев </a:t>
            </a:r>
          </a:p>
          <a:p>
            <a:r>
              <a:rPr lang="ru-RU" dirty="0"/>
              <a:t>Дарья Лимаренко</a:t>
            </a:r>
          </a:p>
          <a:p>
            <a:r>
              <a:rPr lang="ru-RU" dirty="0"/>
              <a:t>Ксения </a:t>
            </a:r>
            <a:r>
              <a:rPr lang="ru-RU" dirty="0" err="1"/>
              <a:t>Стеганцева</a:t>
            </a:r>
            <a:endParaRPr lang="ru-RU" dirty="0"/>
          </a:p>
          <a:p>
            <a:r>
              <a:rPr lang="ru-RU" dirty="0"/>
              <a:t>Олейник Владимир</a:t>
            </a:r>
            <a:br>
              <a:rPr lang="ru-RU" dirty="0"/>
            </a:br>
            <a:r>
              <a:rPr lang="ru-RU" dirty="0" err="1"/>
              <a:t>Шебордаев</a:t>
            </a:r>
            <a:r>
              <a:rPr lang="ru-RU" dirty="0"/>
              <a:t> Андрей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26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15C20-E023-1CE8-6B8F-1A1F0109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62" y="-33785"/>
            <a:ext cx="10515600" cy="743197"/>
          </a:xfrm>
        </p:spPr>
        <p:txBody>
          <a:bodyPr>
            <a:normAutofit/>
          </a:bodyPr>
          <a:lstStyle/>
          <a:p>
            <a:pPr algn="ctr"/>
            <a:r>
              <a:rPr lang="ru-RU" sz="4000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</a:t>
            </a:r>
            <a:endParaRPr lang="ru-RU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8D6AF6-B244-B6BC-4A32-A26CE9051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1504" y="709410"/>
            <a:ext cx="10020137" cy="2372458"/>
          </a:xfrm>
        </p:spPr>
        <p:txBody>
          <a:bodyPr>
            <a:normAutofit/>
          </a:bodyPr>
          <a:lstStyle/>
          <a:p>
            <a:pPr algn="just"/>
            <a:r>
              <a:rPr lang="ru-RU" sz="1900" b="1" dirty="0">
                <a:solidFill>
                  <a:schemeClr val="tx1"/>
                </a:solidFill>
              </a:rPr>
              <a:t>Цель работы:</a:t>
            </a:r>
            <a:r>
              <a:rPr lang="ru-RU" sz="1900" dirty="0">
                <a:solidFill>
                  <a:schemeClr val="tx1"/>
                </a:solidFill>
              </a:rPr>
              <a:t> построить и проанализировать систему логистики на графах. </a:t>
            </a:r>
          </a:p>
          <a:p>
            <a:pPr algn="just"/>
            <a:r>
              <a:rPr lang="ru-RU" sz="1900" b="1" dirty="0">
                <a:solidFill>
                  <a:schemeClr val="tx1"/>
                </a:solidFill>
              </a:rPr>
              <a:t>Задачи по ТЗ:</a:t>
            </a:r>
            <a:endParaRPr lang="ru-RU" sz="1900" dirty="0">
              <a:solidFill>
                <a:schemeClr val="tx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1"/>
                </a:solidFill>
              </a:rPr>
              <a:t>Реализовать </a:t>
            </a:r>
            <a:r>
              <a:rPr lang="ru-RU" sz="1900" dirty="0" err="1">
                <a:solidFill>
                  <a:schemeClr val="tx1"/>
                </a:solidFill>
              </a:rPr>
              <a:t>Дейкстру</a:t>
            </a:r>
            <a:r>
              <a:rPr lang="ru-RU" sz="1900" dirty="0">
                <a:solidFill>
                  <a:schemeClr val="tx1"/>
                </a:solidFill>
              </a:rPr>
              <a:t> и Флойда–</a:t>
            </a:r>
            <a:r>
              <a:rPr lang="ru-RU" sz="1900" dirty="0" err="1">
                <a:solidFill>
                  <a:schemeClr val="tx1"/>
                </a:solidFill>
              </a:rPr>
              <a:t>Уоршелла</a:t>
            </a:r>
            <a:r>
              <a:rPr lang="ru-RU" sz="1900" dirty="0">
                <a:solidFill>
                  <a:schemeClr val="tx1"/>
                </a:solidFill>
              </a:rPr>
              <a:t> для маршрутизации.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1"/>
                </a:solidFill>
              </a:rPr>
              <a:t>Построить оптимальную последовательность доставки.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1"/>
                </a:solidFill>
              </a:rPr>
              <a:t>Группировка заказов по районам.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1"/>
                </a:solidFill>
              </a:rPr>
              <a:t>Сравнение производительности алгоритмов.</a:t>
            </a:r>
          </a:p>
          <a:p>
            <a:pPr algn="just"/>
            <a:endParaRPr lang="ru-RU" sz="19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A1559F-1160-4755-BECC-7CAACBCD4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590" y="3127138"/>
            <a:ext cx="4853051" cy="37840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292100-054D-464D-8EA5-B043DE88E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86" y="3127138"/>
            <a:ext cx="4853051" cy="378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0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80D6A-6EA1-8FDC-9D0F-969CB0D6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4744"/>
            <a:ext cx="10893552" cy="949637"/>
          </a:xfrm>
        </p:spPr>
        <p:txBody>
          <a:bodyPr>
            <a:noAutofit/>
          </a:bodyPr>
          <a:lstStyle/>
          <a:p>
            <a:pPr algn="ctr"/>
            <a:r>
              <a:rPr lang="ru-RU" sz="3600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</a:t>
            </a:r>
            <a:br>
              <a:rPr lang="ru-RU" sz="3600" b="1" i="0" dirty="0">
                <a:solidFill>
                  <a:srgbClr val="07011B"/>
                </a:solidFill>
                <a:effectLst/>
                <a:latin typeface="ALS_Sector"/>
              </a:rPr>
            </a:br>
            <a:r>
              <a:rPr lang="ru-RU" sz="2000" dirty="0"/>
              <a:t>Базовая маршрутизация (Часть 1)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12DAF4-A34A-4524-BAAC-90C170E1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7" y="1693800"/>
            <a:ext cx="6695924" cy="50142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39E8B4-B38C-405E-B007-7F10ED7B2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648" y="1808682"/>
            <a:ext cx="5493431" cy="50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5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E0E0F-B0CE-52DB-87A2-72757F10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10753"/>
          </a:xfrm>
        </p:spPr>
        <p:txBody>
          <a:bodyPr>
            <a:normAutofit/>
          </a:bodyPr>
          <a:lstStyle/>
          <a:p>
            <a:pPr algn="ctr"/>
            <a:r>
              <a:rPr lang="ru-RU" sz="3600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 </a:t>
            </a:r>
            <a:br>
              <a:rPr lang="ru-RU" sz="1100" b="1" i="0" dirty="0">
                <a:solidFill>
                  <a:srgbClr val="07011B"/>
                </a:solidFill>
                <a:effectLst/>
                <a:latin typeface="ALS_Sector"/>
              </a:rPr>
            </a:br>
            <a:r>
              <a:rPr lang="ru-RU" sz="2000" dirty="0"/>
              <a:t>Оптимизация маршрутов (Часть 2)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873C3D-A306-4E75-9088-5335981B4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55" y="1746553"/>
            <a:ext cx="5830807" cy="43663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2F83AD-EEE7-47DC-B9F0-12D784C9A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46553"/>
            <a:ext cx="5830807" cy="436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3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B7F55-B908-B030-F47A-E0E3F59E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5674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</a:t>
            </a:r>
            <a:br>
              <a:rPr lang="ru-RU" sz="1100" dirty="0"/>
            </a:br>
            <a:r>
              <a:rPr lang="ru-RU" sz="2200" dirty="0"/>
              <a:t>Анализ производительности (Часть 3)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6544CA9-AFB6-D33D-2ACA-CEA5CA90E2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997017"/>
            <a:ext cx="2584383" cy="258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D9DF872-323C-BF2B-2B98-8DD810D2A7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42588"/>
            <a:ext cx="2825015" cy="282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011483-A9CF-4A09-B7FE-03D4709D68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0" r="49082" b="45940"/>
          <a:stretch/>
        </p:blipFill>
        <p:spPr>
          <a:xfrm>
            <a:off x="64931" y="2482315"/>
            <a:ext cx="3435048" cy="249645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A21F70-AE36-4358-AD67-B9C6CA746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47" y="1649790"/>
            <a:ext cx="4749533" cy="46289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41BC78-E20F-4D13-A2D3-ABF9BD8F6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7" t="6082"/>
          <a:stretch/>
        </p:blipFill>
        <p:spPr>
          <a:xfrm>
            <a:off x="3617056" y="1534979"/>
            <a:ext cx="3278256" cy="467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6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B17C12C-8822-41D0-850C-0D1395A6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5674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i="0" dirty="0">
                <a:solidFill>
                  <a:srgbClr val="07011B"/>
                </a:solidFill>
                <a:effectLst/>
                <a:latin typeface="ALS_Sector"/>
              </a:rPr>
              <a:t>Кейс 2: Система логистики и доставки</a:t>
            </a:r>
            <a:br>
              <a:rPr lang="ru-RU" sz="1100" dirty="0"/>
            </a:br>
            <a:r>
              <a:rPr lang="ru-RU" sz="2200" dirty="0"/>
              <a:t>Вывод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FA7A9A-788C-45F1-8255-61442B0CBD52}"/>
              </a:ext>
            </a:extLst>
          </p:cNvPr>
          <p:cNvSpPr txBox="1"/>
          <p:nvPr/>
        </p:nvSpPr>
        <p:spPr>
          <a:xfrm>
            <a:off x="662819" y="1606248"/>
            <a:ext cx="11432419" cy="351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В ходе работы была реализована полноценная система маршрутизации на графах, включающая поиск кратчайших путей (</a:t>
            </a:r>
            <a:r>
              <a:rPr lang="ru-RU" sz="1900" dirty="0" err="1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Дейкстра</a:t>
            </a:r>
            <a:r>
              <a:rPr lang="ru-RU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, Флойд–</a:t>
            </a:r>
            <a:r>
              <a:rPr lang="ru-RU" sz="1900" dirty="0" err="1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Уоршелл</a:t>
            </a:r>
            <a:r>
              <a:rPr lang="ru-RU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), группировку заказов по районам и построение оптимальной последовательности доставки. </a:t>
            </a:r>
            <a:br>
              <a:rPr lang="en-US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Проведено сравнение производительности алгоритмов, показывающее различия в масштабируемости и характере вычислений. Полученные визуализации подтверждают корректность работы системы и позволяют наглядно оценить маршруты и эффективность методов.</a:t>
            </a:r>
            <a:br>
              <a:rPr lang="en-US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900" dirty="0">
                <a:effectLst/>
                <a:latin typeface="Univers (Основной текст)"/>
                <a:ea typeface="Times New Roman" panose="02020603050405020304" pitchFamily="18" charset="0"/>
                <a:cs typeface="Times New Roman" panose="02020603050405020304" pitchFamily="18" charset="0"/>
              </a:rPr>
              <a:t>Итоговый результат демонстрирует возможность применения классических алгоритмов графов в задачах логистики и управления доставкой.</a:t>
            </a:r>
            <a:endParaRPr lang="ru-RU" sz="1900" dirty="0">
              <a:effectLst/>
              <a:latin typeface="Univers (Основной текст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1712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173</TotalTime>
  <Words>202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ALS_Sector</vt:lpstr>
      <vt:lpstr>Arial</vt:lpstr>
      <vt:lpstr>Calibri</vt:lpstr>
      <vt:lpstr>Univers</vt:lpstr>
      <vt:lpstr>Univers (Основной текст)</vt:lpstr>
      <vt:lpstr>GradientVTI</vt:lpstr>
      <vt:lpstr>Лабораторная работа 10  Кейс 2: Система логистики и доставки</vt:lpstr>
      <vt:lpstr>Кейс 2: Система логистики и доставки</vt:lpstr>
      <vt:lpstr>Кейс 2: Система логистики и доставки Базовая маршрутизация (Часть 1)</vt:lpstr>
      <vt:lpstr>Кейс 2: Система логистики и доставки  Оптимизация маршрутов (Часть 2)</vt:lpstr>
      <vt:lpstr>Кейс 2: Система логистики и доставки Анализ производительности (Часть 3)</vt:lpstr>
      <vt:lpstr>Кейс 2: Система логистики и доставки 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12  Кейс 3: ИИ для игры — Greedy DFS</dc:title>
  <dc:creator>Дарья Лимаренко</dc:creator>
  <cp:lastModifiedBy>Григорий Корнеев</cp:lastModifiedBy>
  <cp:revision>19</cp:revision>
  <dcterms:created xsi:type="dcterms:W3CDTF">2025-11-24T09:34:50Z</dcterms:created>
  <dcterms:modified xsi:type="dcterms:W3CDTF">2025-12-04T09:57:43Z</dcterms:modified>
</cp:coreProperties>
</file>