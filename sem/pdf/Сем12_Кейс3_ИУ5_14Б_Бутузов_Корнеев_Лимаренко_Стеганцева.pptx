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38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50F53-DB89-AFFA-6653-6DCF8645A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192" y="1041400"/>
            <a:ext cx="11045952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Семинар 12 </a:t>
            </a:r>
            <a:br>
              <a:rPr lang="ru-RU" dirty="0"/>
            </a:br>
            <a:r>
              <a:rPr lang="ru-RU" dirty="0"/>
              <a:t>Кейс 3: ИИ для игры — </a:t>
            </a:r>
            <a:r>
              <a:rPr lang="ru-RU" dirty="0" err="1"/>
              <a:t>Greedy</a:t>
            </a:r>
            <a:r>
              <a:rPr lang="ru-RU" dirty="0"/>
              <a:t> DFS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DD6353-3ABD-8D4A-CC81-A7A663F65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688" y="3666951"/>
            <a:ext cx="3697224" cy="2622620"/>
          </a:xfrm>
        </p:spPr>
        <p:txBody>
          <a:bodyPr>
            <a:normAutofit/>
          </a:bodyPr>
          <a:lstStyle/>
          <a:p>
            <a:r>
              <a:rPr lang="ru-RU" dirty="0"/>
              <a:t>Группа ИУ5-14Б</a:t>
            </a:r>
          </a:p>
          <a:p>
            <a:r>
              <a:rPr lang="ru-RU" dirty="0"/>
              <a:t>Роман Бутузов</a:t>
            </a:r>
          </a:p>
          <a:p>
            <a:r>
              <a:rPr lang="ru-RU" dirty="0"/>
              <a:t>Григорий Корнеев </a:t>
            </a:r>
          </a:p>
          <a:p>
            <a:r>
              <a:rPr lang="ru-RU" dirty="0"/>
              <a:t>Дарья Лимаренко</a:t>
            </a:r>
          </a:p>
          <a:p>
            <a:r>
              <a:rPr lang="ru-RU" dirty="0"/>
              <a:t>Ксения Стеганцева</a:t>
            </a:r>
          </a:p>
        </p:txBody>
      </p:sp>
    </p:spTree>
    <p:extLst>
      <p:ext uri="{BB962C8B-B14F-4D97-AF65-F5344CB8AC3E}">
        <p14:creationId xmlns:p14="http://schemas.microsoft.com/office/powerpoint/2010/main" val="167626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15C20-E023-1CE8-6B8F-1A1F0109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293"/>
            <a:ext cx="10515600" cy="128892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Семинар 12: "Алгоритмы поиска: DFS, BFS, GDFS, GBFS, A*"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8D6AF6-B244-B6BC-4A32-A26CE9051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41449"/>
            <a:ext cx="10515600" cy="4096258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Цель</a:t>
            </a:r>
            <a:r>
              <a:rPr lang="ru-RU" dirty="0">
                <a:solidFill>
                  <a:schemeClr val="tx1"/>
                </a:solidFill>
              </a:rPr>
              <a:t>:   научиться выбирать алгоритмы поиска под конкретные задачи и понимать их сильные/слабые стороны.</a:t>
            </a:r>
          </a:p>
          <a:p>
            <a:r>
              <a:rPr lang="ru-RU" dirty="0">
                <a:solidFill>
                  <a:schemeClr val="tx1"/>
                </a:solidFill>
              </a:rPr>
              <a:t>В рамках семинара необходимо выполнить 2 задания:</a:t>
            </a:r>
          </a:p>
          <a:p>
            <a:r>
              <a:rPr lang="ru-RU" dirty="0">
                <a:solidFill>
                  <a:schemeClr val="tx1"/>
                </a:solidFill>
              </a:rPr>
              <a:t>-</a:t>
            </a:r>
            <a:r>
              <a:rPr lang="ru-RU" b="1" dirty="0">
                <a:solidFill>
                  <a:schemeClr val="tx1"/>
                </a:solidFill>
              </a:rPr>
              <a:t>Задание 1</a:t>
            </a:r>
            <a:r>
              <a:rPr lang="ru-RU" dirty="0">
                <a:solidFill>
                  <a:schemeClr val="tx1"/>
                </a:solidFill>
              </a:rPr>
              <a:t>: выбор и реализация кейса (1 из 6), ответы на вопросы к кейсу</a:t>
            </a:r>
          </a:p>
          <a:p>
            <a:r>
              <a:rPr lang="ru-RU" dirty="0">
                <a:solidFill>
                  <a:schemeClr val="tx1"/>
                </a:solidFill>
              </a:rPr>
              <a:t>-</a:t>
            </a:r>
            <a:r>
              <a:rPr lang="ru-RU" b="1" dirty="0">
                <a:solidFill>
                  <a:schemeClr val="tx1"/>
                </a:solidFill>
              </a:rPr>
              <a:t>Задание 2:</a:t>
            </a:r>
            <a:r>
              <a:rPr lang="ru-RU" dirty="0">
                <a:solidFill>
                  <a:schemeClr val="tx1"/>
                </a:solidFill>
              </a:rPr>
              <a:t> "Выбор алгоритма для конкретной системы (1 из 6)"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40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80D6A-6EA1-8FDC-9D0F-969CB0D6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4744"/>
            <a:ext cx="10893552" cy="776859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Кейс 3: ИИ для игры — </a:t>
            </a:r>
            <a:r>
              <a:rPr lang="ru-RU" sz="3600" dirty="0" err="1"/>
              <a:t>Greedy</a:t>
            </a:r>
            <a:r>
              <a:rPr lang="ru-RU" sz="3600" dirty="0"/>
              <a:t> DFS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3D4AD0-5E6D-8393-137B-A2D4D4CD3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01409"/>
            <a:ext cx="11494008" cy="5641847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Задание: "Реализовать ИИ для пошаговой стратегии"</a:t>
            </a:r>
          </a:p>
          <a:p>
            <a:r>
              <a:rPr lang="ru-RU" dirty="0">
                <a:solidFill>
                  <a:schemeClr val="tx1"/>
                </a:solidFill>
              </a:rPr>
              <a:t>- Уровень 1: Поиск ресурсов (ближайшие цели)</a:t>
            </a:r>
          </a:p>
          <a:p>
            <a:r>
              <a:rPr lang="ru-RU" dirty="0">
                <a:solidFill>
                  <a:schemeClr val="tx1"/>
                </a:solidFill>
              </a:rPr>
              <a:t>- Уровень 2: Атака врага (выбор цели)</a:t>
            </a:r>
          </a:p>
          <a:p>
            <a:r>
              <a:rPr lang="ru-RU" dirty="0">
                <a:solidFill>
                  <a:schemeClr val="tx1"/>
                </a:solidFill>
              </a:rPr>
              <a:t>- Уровень 3: Захват базы (последовательность действий)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+mj-lt"/>
              </a:rPr>
              <a:t>Задание 2 для всех кейсов: "Выбор алгоритма для конкретной системы" </a:t>
            </a:r>
          </a:p>
          <a:p>
            <a:r>
              <a:rPr lang="ru-RU" dirty="0">
                <a:solidFill>
                  <a:schemeClr val="tx1"/>
                </a:solidFill>
              </a:rPr>
              <a:t>Используя программу «Выбор алгоритма»: </a:t>
            </a:r>
          </a:p>
          <a:p>
            <a:r>
              <a:rPr lang="ru-RU" dirty="0">
                <a:solidFill>
                  <a:schemeClr val="tx1"/>
                </a:solidFill>
              </a:rPr>
              <a:t>1. Проанализировать системы и выбрать 3 лучших алгоритма для каждой</a:t>
            </a:r>
          </a:p>
          <a:p>
            <a:r>
              <a:rPr lang="ru-RU" dirty="0">
                <a:solidFill>
                  <a:schemeClr val="tx1"/>
                </a:solidFill>
              </a:rPr>
              <a:t>2. Заполнить итоговую таблицу:</a:t>
            </a:r>
          </a:p>
          <a:p>
            <a:r>
              <a:rPr lang="ru-RU" b="1" dirty="0">
                <a:solidFill>
                  <a:schemeClr val="tx1"/>
                </a:solidFill>
              </a:rPr>
              <a:t>Системы для анализа: 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Система 1   —  Навигатор такси (поиск маршрутов)</a:t>
            </a:r>
          </a:p>
          <a:p>
            <a:r>
              <a:rPr lang="ru-RU" dirty="0">
                <a:solidFill>
                  <a:schemeClr val="tx1"/>
                </a:solidFill>
              </a:rPr>
              <a:t>Система 2   —  Веб-</a:t>
            </a:r>
            <a:r>
              <a:rPr lang="ru-RU" dirty="0" err="1">
                <a:solidFill>
                  <a:schemeClr val="tx1"/>
                </a:solidFill>
              </a:rPr>
              <a:t>краулер</a:t>
            </a:r>
            <a:r>
              <a:rPr lang="ru-RU" dirty="0">
                <a:solidFill>
                  <a:schemeClr val="tx1"/>
                </a:solidFill>
              </a:rPr>
              <a:t> (обход сайтов)</a:t>
            </a:r>
          </a:p>
          <a:p>
            <a:r>
              <a:rPr lang="ru-RU" dirty="0">
                <a:solidFill>
                  <a:schemeClr val="tx1"/>
                </a:solidFill>
              </a:rPr>
              <a:t>Система 3   —  ИИ для шахмат (поиск ходов)</a:t>
            </a:r>
          </a:p>
          <a:p>
            <a:r>
              <a:rPr lang="ru-RU" dirty="0">
                <a:solidFill>
                  <a:schemeClr val="tx1"/>
                </a:solidFill>
              </a:rPr>
              <a:t>Система 4   —  Сетевой анализ (поиск уязвимостей)</a:t>
            </a:r>
          </a:p>
          <a:p>
            <a:r>
              <a:rPr lang="ru-RU" dirty="0">
                <a:solidFill>
                  <a:schemeClr val="tx1"/>
                </a:solidFill>
              </a:rPr>
              <a:t>Система 5   —  Рекомендательная система (поиск паттернов)</a:t>
            </a:r>
          </a:p>
          <a:p>
            <a:r>
              <a:rPr lang="ru-RU" dirty="0">
                <a:solidFill>
                  <a:schemeClr val="tx1"/>
                </a:solidFill>
              </a:rPr>
              <a:t>Система 6   —  Поиск в социальном графе (рекомендации друзей)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965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E0E0F-B0CE-52DB-87A2-72757F10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221" y="0"/>
            <a:ext cx="2180857" cy="1010753"/>
          </a:xfrm>
        </p:spPr>
        <p:txBody>
          <a:bodyPr>
            <a:normAutofit/>
          </a:bodyPr>
          <a:lstStyle/>
          <a:p>
            <a:r>
              <a:rPr lang="ru-RU" sz="4000" dirty="0"/>
              <a:t>Кейс 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C525DF-3DED-6CB6-AD43-EF30F071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2201" y="2465580"/>
            <a:ext cx="4158113" cy="1926839"/>
          </a:xfrm>
        </p:spPr>
        <p:txBody>
          <a:bodyPr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Случайным образом формируется карта, стены, количество ресурсов, врагов и баз, а также их расположение.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779E05-1A14-86E1-E540-628FB319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59" y="1449055"/>
            <a:ext cx="6097604" cy="4599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1B520-3825-0592-F3D1-D3CC5AD0C560}"/>
              </a:ext>
            </a:extLst>
          </p:cNvPr>
          <p:cNvSpPr txBox="1"/>
          <p:nvPr/>
        </p:nvSpPr>
        <p:spPr>
          <a:xfrm>
            <a:off x="1082474" y="6048795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1" dirty="0"/>
              <a:t>Рисунок 1 — вывод в терминале VS Code</a:t>
            </a:r>
          </a:p>
        </p:txBody>
      </p:sp>
    </p:spTree>
    <p:extLst>
      <p:ext uri="{BB962C8B-B14F-4D97-AF65-F5344CB8AC3E}">
        <p14:creationId xmlns:p14="http://schemas.microsoft.com/office/powerpoint/2010/main" val="264903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B7F55-B908-B030-F47A-E0E3F59E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34" y="0"/>
            <a:ext cx="2171232" cy="856749"/>
          </a:xfrm>
        </p:spPr>
        <p:txBody>
          <a:bodyPr>
            <a:normAutofit/>
          </a:bodyPr>
          <a:lstStyle/>
          <a:p>
            <a:r>
              <a:rPr lang="ru-RU" sz="4000" dirty="0"/>
              <a:t>Кейс 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9E1E63-B57D-E3EE-241E-C4F93560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56749"/>
            <a:ext cx="10515600" cy="1500187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На базе полученных данных реализована </a:t>
            </a:r>
            <a:r>
              <a:rPr lang="en-US" dirty="0">
                <a:solidFill>
                  <a:schemeClr val="tx1"/>
                </a:solidFill>
              </a:rPr>
              <a:t>HTML-</a:t>
            </a:r>
            <a:r>
              <a:rPr lang="ru-RU" dirty="0">
                <a:solidFill>
                  <a:schemeClr val="tx1"/>
                </a:solidFill>
              </a:rPr>
              <a:t>визуализация. 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6544CA9-AFB6-D33D-2ACA-CEA5CA90E2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997017"/>
            <a:ext cx="2584383" cy="258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D9DF872-323C-BF2B-2B98-8DD810D2A7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56385"/>
            <a:ext cx="2825015" cy="282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10FCB1-F7FB-97C1-7E62-AF8945256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410"/>
          <a:stretch>
            <a:fillRect/>
          </a:stretch>
        </p:blipFill>
        <p:spPr>
          <a:xfrm>
            <a:off x="144378" y="1487019"/>
            <a:ext cx="3821229" cy="3883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205675-E9AD-4423-61D3-4CE24F6F3F33}"/>
              </a:ext>
            </a:extLst>
          </p:cNvPr>
          <p:cNvSpPr txBox="1"/>
          <p:nvPr/>
        </p:nvSpPr>
        <p:spPr>
          <a:xfrm>
            <a:off x="517357" y="5469084"/>
            <a:ext cx="325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Рисунок 2</a:t>
            </a:r>
            <a:r>
              <a:rPr lang="ru-RU" i="1" dirty="0"/>
              <a:t> —</a:t>
            </a:r>
            <a:r>
              <a:rPr lang="ru-RU" i="1" dirty="0">
                <a:solidFill>
                  <a:schemeClr val="tx1"/>
                </a:solidFill>
              </a:rPr>
              <a:t> кратчайший </a:t>
            </a:r>
          </a:p>
          <a:p>
            <a:pPr algn="ctr"/>
            <a:r>
              <a:rPr lang="ru-RU" i="1" dirty="0">
                <a:solidFill>
                  <a:schemeClr val="tx1"/>
                </a:solidFill>
              </a:rPr>
              <a:t>путь к ресурсу</a:t>
            </a:r>
            <a:endParaRPr lang="ru-RU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90CE1-2A58-D463-909E-206AF45EFE9C}"/>
              </a:ext>
            </a:extLst>
          </p:cNvPr>
          <p:cNvSpPr txBox="1"/>
          <p:nvPr/>
        </p:nvSpPr>
        <p:spPr>
          <a:xfrm>
            <a:off x="2894797" y="5469081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Рисунок 3</a:t>
            </a:r>
            <a:r>
              <a:rPr lang="ru-RU" i="1" dirty="0"/>
              <a:t> —</a:t>
            </a:r>
            <a:r>
              <a:rPr lang="ru-RU" i="1" dirty="0">
                <a:solidFill>
                  <a:schemeClr val="tx1"/>
                </a:solidFill>
              </a:rPr>
              <a:t> кратчайший </a:t>
            </a:r>
          </a:p>
          <a:p>
            <a:pPr algn="ctr"/>
            <a:r>
              <a:rPr lang="ru-RU" i="1" dirty="0">
                <a:solidFill>
                  <a:schemeClr val="tx1"/>
                </a:solidFill>
              </a:rPr>
              <a:t>путь к </a:t>
            </a:r>
            <a:r>
              <a:rPr lang="ru-RU" i="1" dirty="0"/>
              <a:t>врагу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C9B83CE-6504-D059-E294-1F3CCE1BA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4029415" y="1487017"/>
            <a:ext cx="4239373" cy="388396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C645E08-D804-763E-F838-6385888756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8332596" y="1487017"/>
            <a:ext cx="3809616" cy="38839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D93F44B-8618-2CF8-C863-1F372CA160FE}"/>
              </a:ext>
            </a:extLst>
          </p:cNvPr>
          <p:cNvSpPr txBox="1"/>
          <p:nvPr/>
        </p:nvSpPr>
        <p:spPr>
          <a:xfrm>
            <a:off x="7235790" y="5469081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Рисунок 4 — кратчайший </a:t>
            </a:r>
          </a:p>
          <a:p>
            <a:pPr algn="ctr"/>
            <a:r>
              <a:rPr lang="ru-RU" i="1" dirty="0"/>
              <a:t>путь к базе</a:t>
            </a:r>
          </a:p>
        </p:txBody>
      </p:sp>
    </p:spTree>
    <p:extLst>
      <p:ext uri="{BB962C8B-B14F-4D97-AF65-F5344CB8AC3E}">
        <p14:creationId xmlns:p14="http://schemas.microsoft.com/office/powerpoint/2010/main" val="264126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E3500-6771-B478-96B7-0B1144B1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428" y="86627"/>
            <a:ext cx="9853061" cy="856749"/>
          </a:xfrm>
        </p:spPr>
        <p:txBody>
          <a:bodyPr>
            <a:normAutofit/>
          </a:bodyPr>
          <a:lstStyle/>
          <a:p>
            <a:r>
              <a:rPr lang="ru-RU" sz="4000" dirty="0"/>
              <a:t>Кейс 3: ответы на вопросы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A579CA-6C6C-261E-A9D2-F6472AF0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87654"/>
            <a:ext cx="11360150" cy="5770346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/>
                </a:solidFill>
              </a:rPr>
              <a:t>1. В чём риск использования жадных стратегий? </a:t>
            </a: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Жадный алгоритм принимает решение только по локальной эвристике (манхэттенское расстояние), поэтому он легко заходит в тупики и пропускает более выгодные глобальные маршруты. В твоей работе </a:t>
            </a:r>
            <a:r>
              <a:rPr lang="ru-RU" sz="2000" dirty="0" err="1">
                <a:solidFill>
                  <a:schemeClr val="tx1"/>
                </a:solidFill>
              </a:rPr>
              <a:t>Greedy</a:t>
            </a:r>
            <a:r>
              <a:rPr lang="ru-RU" sz="2000" dirty="0">
                <a:solidFill>
                  <a:schemeClr val="tx1"/>
                </a:solidFill>
              </a:rPr>
              <a:t> DFS иногда не находит путь, который реально существует, потому что выбирает «ближайшую» клетку, не анализируя структуру карты.</a:t>
            </a: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2. Когда </a:t>
            </a:r>
            <a:r>
              <a:rPr lang="ru-RU" sz="2000" dirty="0" err="1">
                <a:solidFill>
                  <a:schemeClr val="tx1"/>
                </a:solidFill>
              </a:rPr>
              <a:t>Greedy</a:t>
            </a:r>
            <a:r>
              <a:rPr lang="ru-RU" sz="2000" dirty="0">
                <a:solidFill>
                  <a:schemeClr val="tx1"/>
                </a:solidFill>
              </a:rPr>
              <a:t> DFS зацикливается? </a:t>
            </a:r>
          </a:p>
          <a:p>
            <a:pPr algn="just"/>
            <a:r>
              <a:rPr lang="ru-RU" sz="2000" dirty="0" err="1">
                <a:solidFill>
                  <a:schemeClr val="tx1"/>
                </a:solidFill>
              </a:rPr>
              <a:t>Greedy</a:t>
            </a:r>
            <a:r>
              <a:rPr lang="ru-RU" sz="2000" dirty="0">
                <a:solidFill>
                  <a:schemeClr val="tx1"/>
                </a:solidFill>
              </a:rPr>
              <a:t> DFS логически «зацикливается» (упирается в одну и ту же область), когда эвристика постоянно указывает в сторону недостижимой цели — например, если путь перекрыт стенами или в карте есть симметричные варианты. Он повторяет движение в одну и ту же ветку, даже если реального прогресса нет, потому что эвристически она кажется лучшей.</a:t>
            </a: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3. Как комбинировать с другими алгоритмами? </a:t>
            </a: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Жадный поиск обычно комбинируют с более надёжными алгоритмами: BFS используют как </a:t>
            </a:r>
            <a:r>
              <a:rPr lang="ru-RU" sz="2000" dirty="0" err="1">
                <a:solidFill>
                  <a:schemeClr val="tx1"/>
                </a:solidFill>
              </a:rPr>
              <a:t>fallback</a:t>
            </a:r>
            <a:r>
              <a:rPr lang="ru-RU" sz="2000" dirty="0">
                <a:solidFill>
                  <a:schemeClr val="tx1"/>
                </a:solidFill>
              </a:rPr>
              <a:t> при отсутствии пути, A* — для поиска оптимального маршрута с учётом стоимости пути, а ограничение глубины или проверка достижимости предотвращают застревание </a:t>
            </a:r>
            <a:r>
              <a:rPr lang="ru-RU" sz="2000" dirty="0" err="1">
                <a:solidFill>
                  <a:schemeClr val="tx1"/>
                </a:solidFill>
              </a:rPr>
              <a:t>Greedy</a:t>
            </a:r>
            <a:r>
              <a:rPr lang="ru-RU" sz="2000" dirty="0">
                <a:solidFill>
                  <a:schemeClr val="tx1"/>
                </a:solidFill>
              </a:rPr>
              <a:t> DFS в тупиках. Такая комбинация делает поиск и быстрым, и устойчивым.</a:t>
            </a:r>
          </a:p>
        </p:txBody>
      </p:sp>
    </p:spTree>
    <p:extLst>
      <p:ext uri="{BB962C8B-B14F-4D97-AF65-F5344CB8AC3E}">
        <p14:creationId xmlns:p14="http://schemas.microsoft.com/office/powerpoint/2010/main" val="117862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A9F06-3D3D-20E2-351B-A1CCCA94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94" y="128016"/>
            <a:ext cx="3356102" cy="749427"/>
          </a:xfrm>
        </p:spPr>
        <p:txBody>
          <a:bodyPr>
            <a:normAutofit/>
          </a:bodyPr>
          <a:lstStyle/>
          <a:p>
            <a:r>
              <a:rPr lang="ru-RU" sz="4000" dirty="0"/>
              <a:t>Задание 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7352B3-1987-4C15-0E9C-681446EB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9630"/>
            <a:ext cx="10515600" cy="321843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Система 3   —  ИИ для шахмат (поиск ходов)</a:t>
            </a:r>
          </a:p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64FC7AC-056D-BD0B-DB5C-6E12AB7C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3" y="1241561"/>
            <a:ext cx="6001827" cy="560805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42D7BFE-4AF8-AB25-2532-4A1D2E39D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4799"/>
            <a:ext cx="5757357" cy="56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2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E26A0-CEAE-FD92-91E0-8FA4AD52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845"/>
            <a:ext cx="10515600" cy="1279779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Система 3   —  ИИ для шахмат (поиск ходов)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B0C22E-9A2F-11B5-464F-AFCB333BC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781" y="1501540"/>
            <a:ext cx="7055318" cy="5356459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solidFill>
                  <a:schemeClr val="tx1"/>
                </a:solidFill>
              </a:rPr>
              <a:t>Требования: оптимальность=10/10, память=8/10, скорость=7/10</a:t>
            </a:r>
          </a:p>
          <a:p>
            <a:r>
              <a:rPr lang="ru-RU" dirty="0">
                <a:solidFill>
                  <a:schemeClr val="tx1"/>
                </a:solidFill>
              </a:rPr>
              <a:t>Веса: да, Эвристики: да, Дерево: да, Полный обход: нет</a:t>
            </a:r>
          </a:p>
          <a:p>
            <a:r>
              <a:rPr lang="ru-RU" dirty="0">
                <a:solidFill>
                  <a:schemeClr val="tx1"/>
                </a:solidFill>
              </a:rPr>
              <a:t>DFS: 152 баллов</a:t>
            </a:r>
          </a:p>
          <a:p>
            <a:r>
              <a:rPr lang="ru-RU" dirty="0">
                <a:solidFill>
                  <a:schemeClr val="tx1"/>
                </a:solidFill>
              </a:rPr>
              <a:t>BFS: 161 баллов</a:t>
            </a:r>
          </a:p>
          <a:p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BFS: 175 баллов</a:t>
            </a:r>
          </a:p>
          <a:p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DFS: 170 баллов</a:t>
            </a:r>
          </a:p>
          <a:p>
            <a:r>
              <a:rPr lang="ru-RU" dirty="0">
                <a:solidFill>
                  <a:schemeClr val="tx1"/>
                </a:solidFill>
              </a:rPr>
              <a:t>A*: 238 баллов</a:t>
            </a:r>
          </a:p>
          <a:p>
            <a:r>
              <a:rPr lang="ru-RU" dirty="0">
                <a:solidFill>
                  <a:schemeClr val="tx1"/>
                </a:solidFill>
              </a:rPr>
              <a:t>ТОП-3 АЛГОРИТМА:</a:t>
            </a:r>
          </a:p>
          <a:p>
            <a:r>
              <a:rPr lang="ru-RU" dirty="0">
                <a:solidFill>
                  <a:schemeClr val="tx1"/>
                </a:solidFill>
              </a:rPr>
              <a:t>I место: A* (238 баллов)</a:t>
            </a:r>
          </a:p>
          <a:p>
            <a:r>
              <a:rPr lang="ru-RU" dirty="0">
                <a:solidFill>
                  <a:schemeClr val="tx1"/>
                </a:solidFill>
              </a:rPr>
              <a:t>II место: </a:t>
            </a:r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BFS (175 баллов)</a:t>
            </a:r>
          </a:p>
          <a:p>
            <a:r>
              <a:rPr lang="ru-RU" dirty="0">
                <a:solidFill>
                  <a:schemeClr val="tx1"/>
                </a:solidFill>
              </a:rPr>
              <a:t>III место: </a:t>
            </a:r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DFS (170 баллов)</a:t>
            </a:r>
          </a:p>
          <a:p>
            <a:r>
              <a:rPr lang="ru-RU" dirty="0">
                <a:solidFill>
                  <a:schemeClr val="tx1"/>
                </a:solidFill>
              </a:rPr>
              <a:t>=========================================</a:t>
            </a:r>
          </a:p>
          <a:p>
            <a:r>
              <a:rPr lang="ru-RU" dirty="0">
                <a:solidFill>
                  <a:schemeClr val="tx1"/>
                </a:solidFill>
              </a:rPr>
              <a:t>=== ОБЪЯСНЕНИЕ РЕЗУЛЬТАТОВ ===</a:t>
            </a:r>
          </a:p>
          <a:p>
            <a:r>
              <a:rPr lang="ru-RU" dirty="0">
                <a:solidFill>
                  <a:schemeClr val="tx1"/>
                </a:solidFill>
              </a:rPr>
              <a:t>- DFS: лучший для деревьев и полного обхода, минимальная память</a:t>
            </a:r>
          </a:p>
          <a:p>
            <a:r>
              <a:rPr lang="ru-RU" dirty="0">
                <a:solidFill>
                  <a:schemeClr val="tx1"/>
                </a:solidFill>
              </a:rPr>
              <a:t>- BFS: гарантирует кратчайший путь в невзвешенных графах</a:t>
            </a:r>
          </a:p>
          <a:p>
            <a:r>
              <a:rPr lang="ru-RU" dirty="0">
                <a:solidFill>
                  <a:schemeClr val="tx1"/>
                </a:solidFill>
              </a:rPr>
              <a:t>- </a:t>
            </a:r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BFS: скорость с эвристикой, но без гарантий оптимальности</a:t>
            </a:r>
          </a:p>
          <a:p>
            <a:r>
              <a:rPr lang="ru-RU" dirty="0">
                <a:solidFill>
                  <a:schemeClr val="tx1"/>
                </a:solidFill>
              </a:rPr>
              <a:t>- </a:t>
            </a:r>
            <a:r>
              <a:rPr lang="ru-RU" dirty="0" err="1">
                <a:solidFill>
                  <a:schemeClr val="tx1"/>
                </a:solidFill>
              </a:rPr>
              <a:t>Greedy</a:t>
            </a:r>
            <a:r>
              <a:rPr lang="ru-RU" dirty="0">
                <a:solidFill>
                  <a:schemeClr val="tx1"/>
                </a:solidFill>
              </a:rPr>
              <a:t> DFS: локальная оптимизация с малой памятью</a:t>
            </a:r>
          </a:p>
          <a:p>
            <a:r>
              <a:rPr lang="ru-RU" dirty="0">
                <a:solidFill>
                  <a:schemeClr val="tx1"/>
                </a:solidFill>
              </a:rPr>
              <a:t>- A*: лучший для оптимальных путей с эвристикой</a:t>
            </a:r>
          </a:p>
        </p:txBody>
      </p:sp>
    </p:spTree>
    <p:extLst>
      <p:ext uri="{BB962C8B-B14F-4D97-AF65-F5344CB8AC3E}">
        <p14:creationId xmlns:p14="http://schemas.microsoft.com/office/powerpoint/2010/main" val="402903523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149</TotalTime>
  <Words>654</Words>
  <Application>Microsoft Office PowerPoint</Application>
  <PresentationFormat>Широкоэкранный</PresentationFormat>
  <Paragraphs>66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Univers</vt:lpstr>
      <vt:lpstr>GradientVTI</vt:lpstr>
      <vt:lpstr>Семинар 12  Кейс 3: ИИ для игры — Greedy DFS</vt:lpstr>
      <vt:lpstr>Семинар 12: "Алгоритмы поиска: DFS, BFS, GDFS, GBFS, A*"</vt:lpstr>
      <vt:lpstr>Кейс 3: ИИ для игры — Greedy DFS</vt:lpstr>
      <vt:lpstr>Кейс 3</vt:lpstr>
      <vt:lpstr>Кейс 3</vt:lpstr>
      <vt:lpstr>Кейс 3: ответы на вопросы</vt:lpstr>
      <vt:lpstr>Задание 2</vt:lpstr>
      <vt:lpstr>Система 3   —  ИИ для шахмат (поиск ходов)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12  Кейс 3: ИИ для игры — Greedy DFS</dc:title>
  <dc:creator>Дарья Лимаренко</dc:creator>
  <cp:lastModifiedBy>Григорий Корнеев</cp:lastModifiedBy>
  <cp:revision>13</cp:revision>
  <dcterms:created xsi:type="dcterms:W3CDTF">2025-11-24T09:34:50Z</dcterms:created>
  <dcterms:modified xsi:type="dcterms:W3CDTF">2025-12-01T07:15:20Z</dcterms:modified>
</cp:coreProperties>
</file>